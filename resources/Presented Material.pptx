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7" r:id="rId2"/>
    <p:sldId id="277" r:id="rId3"/>
    <p:sldId id="279" r:id="rId4"/>
    <p:sldId id="289" r:id="rId5"/>
    <p:sldId id="282" r:id="rId6"/>
    <p:sldId id="290" r:id="rId7"/>
    <p:sldId id="343" r:id="rId8"/>
    <p:sldId id="281" r:id="rId9"/>
    <p:sldId id="285" r:id="rId10"/>
    <p:sldId id="339" r:id="rId11"/>
    <p:sldId id="344" r:id="rId12"/>
    <p:sldId id="280" r:id="rId13"/>
    <p:sldId id="286" r:id="rId14"/>
    <p:sldId id="295" r:id="rId15"/>
    <p:sldId id="296" r:id="rId16"/>
    <p:sldId id="297" r:id="rId17"/>
    <p:sldId id="319" r:id="rId18"/>
    <p:sldId id="320" r:id="rId19"/>
    <p:sldId id="304" r:id="rId20"/>
    <p:sldId id="305" r:id="rId21"/>
    <p:sldId id="306" r:id="rId22"/>
    <p:sldId id="307" r:id="rId23"/>
    <p:sldId id="308" r:id="rId24"/>
    <p:sldId id="309" r:id="rId25"/>
    <p:sldId id="311" r:id="rId26"/>
    <p:sldId id="321" r:id="rId27"/>
    <p:sldId id="322" r:id="rId28"/>
    <p:sldId id="291" r:id="rId29"/>
    <p:sldId id="335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341" r:id="rId38"/>
    <p:sldId id="331" r:id="rId39"/>
    <p:sldId id="332" r:id="rId40"/>
    <p:sldId id="333" r:id="rId41"/>
    <p:sldId id="334" r:id="rId42"/>
    <p:sldId id="336" r:id="rId43"/>
    <p:sldId id="342" r:id="rId44"/>
    <p:sldId id="258" r:id="rId45"/>
    <p:sldId id="256" r:id="rId46"/>
    <p:sldId id="25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500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D4CD7-5096-4816-9946-9DE431380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A2D8D-4D3F-43A9-9E76-C4B1DA346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1A3CC-5BDE-4880-915A-7273C4786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8186C-9C5E-4F59-AF92-8C9B0EED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E6C12-7A1B-4A8A-A5D8-1E16FA80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56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A2B6-AB67-427D-B945-6A75270A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08AC2-5CE1-4D1C-A080-734832A5A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E8F4E-F04E-4B78-AC88-81733FA23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CF086-0B81-45C3-9DDE-F10453EA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E977F-30BD-4B5D-AA9B-98AE5E4DD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0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73C4-E702-4789-A9B5-6105C08AB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1C55E-B412-4DA9-BFDE-DBF9FC6E9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25BD0-FA4D-43B0-AC86-867B5963C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AFD85-B7EE-4086-BD84-77AFB202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83F2D-9912-467A-BFDC-0409A0315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8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E1C3C-0151-4B6A-AD8A-72DDC15F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67169-A38B-4C7E-AFD3-492860955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1774F-11E2-43C0-8C95-71136E5D3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E5210-7EEC-48F0-BC23-3B45EDB6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93196-FE6A-45BD-AECB-E7B87E64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12BAC-137F-4E2A-8C3C-B1DEB643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20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F69A2-ABDA-4EA8-BD15-2485A0F0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CFD69-146A-47B9-9628-98864DCFA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A677D-DE2F-4D35-B62A-4D795D0C8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22334B-5276-4B7E-A0E8-305B31FEE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2C5C85-BDC5-4A69-85A2-554F19FC2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1924B2-C15E-43BB-90FA-92021450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877F6-10A7-406A-8C22-52D7DEDF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A1437E-0135-4B7B-B41D-F462E527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2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4507-A4E7-48D4-9CAD-DDAC62452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20232-EFA1-4A20-8085-EB493E38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2DBE2F-D5F7-4F24-A078-D898A7517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23F8-7560-403D-B521-42518883B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8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A52FD-EC26-46CE-80A3-0DB71252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33110-C1D2-47C2-9F92-EA43F519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164AD-2BF5-4428-8339-7798B948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5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37876-08DC-4E6D-BE2D-ABA12721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E7CB5-A84C-489E-B1CD-E72F94DEC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A1310-9AE3-48C4-A194-7339C0E74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5C8C6-007F-4E28-B47D-57C1B46D1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6C894-C9C3-4ED4-ABB0-F0550C71A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B48E2-4D69-4692-A05A-EA5419AF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B6218-D0BC-4B5A-B30A-EDBE7062E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C6B231-ECDD-4047-B428-DFC63EC35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09FD8-23B2-482D-B9AF-70274B45A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92434-F11B-4198-B401-15879E7F0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4B94D-6023-452C-A18F-79F4D6DF1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4F1CB-6F81-4B10-9F24-84270456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6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55E4-D5C9-437B-9409-5110B605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5A830-50E8-4E77-A4C3-8D6A174D9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4C7CD-967D-45DE-910A-E3C7024A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51EAF-17C1-4DAB-9172-8D517B8D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EA54B-CA19-49F3-964B-42BB5C76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36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CC2306-69A0-4CDC-8454-E6D2FE8BD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8F394-DD70-47B8-B71A-B814814D7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7D7F4-C58F-4DAE-B033-F7E35F9E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16DC1-AE34-4C1F-9731-C2D47768C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14389-8EC4-4074-81EC-CA4D7410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DC59A-A56C-4C5C-A6D9-BDBF7224A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36030-E38D-4D76-8D3D-8A71652FC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54A46-F6DE-457C-B5F0-44E540860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910A1-D138-4B1B-A1FC-ADE8F221098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D92EA-F98E-4B51-A904-7476E48779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1E52E-0DB3-4AD9-9598-B9DC4B724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C060E-C75E-4E0D-9174-1411D6969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87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ecision_tree_learning" TargetMode="External"/><Relationship Id="rId2" Type="http://schemas.openxmlformats.org/officeDocument/2006/relationships/hyperlink" Target="https://scikit-learn.org/stable/modules/generated/sklearn.tree.DecisionTreeClassifier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svm.html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Support_vector_machine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90405437" TargetMode="External"/><Relationship Id="rId2" Type="http://schemas.openxmlformats.org/officeDocument/2006/relationships/hyperlink" Target="https://commons.wikimedia.org/w/index.php?curid=7371002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765D-153A-3625-0E49-CA8E706A6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556376" cy="2387600"/>
          </a:xfrm>
        </p:spPr>
        <p:txBody>
          <a:bodyPr/>
          <a:lstStyle/>
          <a:p>
            <a:pPr algn="l"/>
            <a:r>
              <a:rPr lang="en-US" u="sng" dirty="0"/>
              <a:t>AI in Biomedical Research Bootcamp – Morning Session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7EA30-184C-7CE4-B606-0C3334C16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Patrick McNeely, PhD</a:t>
            </a:r>
          </a:p>
          <a:p>
            <a:pPr algn="l"/>
            <a:r>
              <a:rPr lang="en-US" dirty="0"/>
              <a:t>21 Aug 2026</a:t>
            </a:r>
          </a:p>
        </p:txBody>
      </p:sp>
    </p:spTree>
    <p:extLst>
      <p:ext uri="{BB962C8B-B14F-4D97-AF65-F5344CB8AC3E}">
        <p14:creationId xmlns:p14="http://schemas.microsoft.com/office/powerpoint/2010/main" val="2647684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D2679-ED34-E8CD-4DEC-6BF7D689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6F10-10AB-CDEF-2B33-3D5DC624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0198A-F762-6E64-A55A-0D5669A7D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Overview of Artificial Intelligence (AI) and Machine Learning (ML)</a:t>
            </a:r>
          </a:p>
          <a:p>
            <a:endParaRPr lang="en-US" dirty="0"/>
          </a:p>
          <a:p>
            <a:r>
              <a:rPr lang="en-US" dirty="0"/>
              <a:t>Terminal basics (a crash course)</a:t>
            </a:r>
          </a:p>
          <a:p>
            <a:endParaRPr lang="en-US" dirty="0"/>
          </a:p>
          <a:p>
            <a:r>
              <a:rPr lang="en-US" dirty="0"/>
              <a:t>Data: What are we learning from?</a:t>
            </a:r>
          </a:p>
          <a:p>
            <a:endParaRPr lang="en-US" dirty="0"/>
          </a:p>
          <a:p>
            <a:r>
              <a:rPr lang="en-US" dirty="0"/>
              <a:t>Python programming</a:t>
            </a:r>
          </a:p>
          <a:p>
            <a:endParaRPr lang="en-US" dirty="0"/>
          </a:p>
          <a:p>
            <a:r>
              <a:rPr lang="en-US" dirty="0"/>
              <a:t>Hands-on: Building a model to make classification predictions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B0063-5829-C299-AFBC-D034A69F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AAF7-96D1-4BA6-8E3D-94B999F2F7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48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C3D2-6FC1-332E-7257-F2E145AED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A657-75F1-3705-3F33-66FF4C073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 and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2A9B8-40A6-C0E9-D3E5-48748AFF8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1121" cy="49719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Machine Learning</a:t>
            </a:r>
          </a:p>
          <a:p>
            <a:pPr lvl="1"/>
            <a:r>
              <a:rPr lang="en-US" dirty="0"/>
              <a:t>A sub-topic within AI</a:t>
            </a:r>
          </a:p>
          <a:p>
            <a:pPr lvl="1"/>
            <a:r>
              <a:rPr lang="en-US" dirty="0"/>
              <a:t>Introduces algorithms that allow machines to “learn”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Fundamentally, about trying to codify human </a:t>
            </a:r>
            <a:r>
              <a:rPr lang="en-US" i="1" dirty="0"/>
              <a:t>learning processes</a:t>
            </a:r>
          </a:p>
          <a:p>
            <a:endParaRPr lang="en-US" dirty="0"/>
          </a:p>
          <a:p>
            <a:r>
              <a:rPr lang="en-US" dirty="0"/>
              <a:t>May be based on mathematical relationships, physical intuition, or other human intuitions</a:t>
            </a:r>
          </a:p>
          <a:p>
            <a:pPr lvl="1"/>
            <a:r>
              <a:rPr lang="en-US" dirty="0"/>
              <a:t>Statistics</a:t>
            </a:r>
          </a:p>
          <a:p>
            <a:pPr lvl="1"/>
            <a:r>
              <a:rPr lang="en-US" dirty="0"/>
              <a:t>Information theory</a:t>
            </a:r>
          </a:p>
          <a:p>
            <a:pPr lvl="1"/>
            <a:r>
              <a:rPr lang="en-US" dirty="0"/>
              <a:t>Dimensional separability</a:t>
            </a:r>
          </a:p>
          <a:p>
            <a:pPr lvl="1"/>
            <a:r>
              <a:rPr lang="en-US" dirty="0"/>
              <a:t>Others…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E2AFF-723D-F0A5-ECB8-51902289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AAF7-96D1-4BA6-8E3D-94B999F2F719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A close-up of a computer&#10;&#10;AI-generated content may be incorrect.">
            <a:extLst>
              <a:ext uri="{FF2B5EF4-FFF2-40B4-BE49-F238E27FC236}">
                <a16:creationId xmlns:a16="http://schemas.microsoft.com/office/drawing/2014/main" id="{E02561C8-FD2D-97F2-18AF-A5D2E7D51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163" y="1623398"/>
            <a:ext cx="3716637" cy="4564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608253-3A93-0467-46F9-6BEF86B33A98}"/>
              </a:ext>
            </a:extLst>
          </p:cNvPr>
          <p:cNvSpPr txBox="1"/>
          <p:nvPr/>
        </p:nvSpPr>
        <p:spPr>
          <a:xfrm>
            <a:off x="7637163" y="6288657"/>
            <a:ext cx="2809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Mark I Perceptron</a:t>
            </a:r>
          </a:p>
          <a:p>
            <a:r>
              <a:rPr lang="en-US" sz="1200" i="1" dirty="0"/>
              <a:t>https://en.wikipedia.org/wiki/Perceptron</a:t>
            </a:r>
          </a:p>
        </p:txBody>
      </p:sp>
    </p:spTree>
    <p:extLst>
      <p:ext uri="{BB962C8B-B14F-4D97-AF65-F5344CB8AC3E}">
        <p14:creationId xmlns:p14="http://schemas.microsoft.com/office/powerpoint/2010/main" val="204021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199C8-90FD-A8FD-1947-8183DD3AA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198E-54D7-4F25-CBE2-DCFE36CF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 and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02B7A-4A15-2854-E237-E576CE280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33816" cy="4351338"/>
          </a:xfrm>
        </p:spPr>
        <p:txBody>
          <a:bodyPr>
            <a:normAutofit/>
          </a:bodyPr>
          <a:lstStyle/>
          <a:p>
            <a:r>
              <a:rPr lang="en-US" dirty="0"/>
              <a:t>Formats informed by human resources &amp; knowledge</a:t>
            </a:r>
          </a:p>
          <a:p>
            <a:pPr lvl="1"/>
            <a:r>
              <a:rPr lang="en-US" dirty="0"/>
              <a:t>ML Engineers must first outline how to ask a question …</a:t>
            </a:r>
          </a:p>
          <a:p>
            <a:pPr lvl="1"/>
            <a:r>
              <a:rPr lang="en-US" dirty="0"/>
              <a:t>…and what format they expect an answer to have</a:t>
            </a:r>
          </a:p>
          <a:p>
            <a:r>
              <a:rPr lang="en-US" dirty="0"/>
              <a:t>Algorithm structure evolved with success and failure of instances</a:t>
            </a:r>
          </a:p>
          <a:p>
            <a:pPr lvl="1"/>
            <a:r>
              <a:rPr lang="en-US" dirty="0"/>
              <a:t>Hidden Markov Models, Probability Graphs, Support Vector Machines , Decision Trees, </a:t>
            </a:r>
            <a:r>
              <a:rPr lang="en-US" dirty="0" err="1"/>
              <a:t>Perceptrons</a:t>
            </a:r>
            <a:r>
              <a:rPr lang="en-US" dirty="0"/>
              <a:t>, Artificial Neural Networks, and many others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607D-BA76-293E-A43C-D6E8BB39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AAF7-96D1-4BA6-8E3D-94B999F2F7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53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3D1AD-DD12-1C25-0E4D-272986FB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Navigation &amp;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B1866-9713-9439-D5DF-3E5E78E10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5276" y="1376737"/>
            <a:ext cx="7449589" cy="53447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Basic navigation commands</a:t>
            </a:r>
          </a:p>
          <a:p>
            <a:pPr lvl="1"/>
            <a:r>
              <a:rPr lang="en-US" dirty="0"/>
              <a:t>Change directory: cd</a:t>
            </a:r>
          </a:p>
          <a:p>
            <a:pPr lvl="1"/>
            <a:r>
              <a:rPr lang="en-US" dirty="0"/>
              <a:t>Show the present working directory: </a:t>
            </a:r>
            <a:r>
              <a:rPr lang="en-US" dirty="0" err="1"/>
              <a:t>pwd</a:t>
            </a:r>
            <a:endParaRPr lang="en-US" dirty="0"/>
          </a:p>
          <a:p>
            <a:pPr lvl="1"/>
            <a:r>
              <a:rPr lang="en-US" dirty="0"/>
              <a:t>List files and directories on a path: ls [-</a:t>
            </a:r>
            <a:r>
              <a:rPr lang="en-US" dirty="0" err="1"/>
              <a:t>lahS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Move or rename a file/folder: mv</a:t>
            </a:r>
          </a:p>
          <a:p>
            <a:pPr lvl="1"/>
            <a:r>
              <a:rPr lang="en-US" dirty="0"/>
              <a:t>Copy a file or folder: cp [-R]</a:t>
            </a:r>
          </a:p>
          <a:p>
            <a:r>
              <a:rPr lang="en-US" dirty="0"/>
              <a:t>File &amp; folder management commands</a:t>
            </a:r>
          </a:p>
          <a:p>
            <a:pPr lvl="1"/>
            <a:r>
              <a:rPr lang="en-US" dirty="0"/>
              <a:t>Make a new directory: </a:t>
            </a:r>
            <a:r>
              <a:rPr lang="en-US" dirty="0" err="1"/>
              <a:t>mkdir</a:t>
            </a:r>
            <a:r>
              <a:rPr lang="en-US" dirty="0"/>
              <a:t> [-p]</a:t>
            </a:r>
          </a:p>
          <a:p>
            <a:pPr lvl="1"/>
            <a:r>
              <a:rPr lang="en-US" dirty="0"/>
              <a:t>Remove a file or directory: rm [-r][-f] / </a:t>
            </a:r>
            <a:r>
              <a:rPr lang="en-US" dirty="0" err="1"/>
              <a:t>rmdir</a:t>
            </a:r>
            <a:endParaRPr lang="en-US" dirty="0"/>
          </a:p>
          <a:p>
            <a:pPr lvl="1"/>
            <a:r>
              <a:rPr lang="en-US" dirty="0"/>
              <a:t>Show all folders and files, with nice formatting: tree</a:t>
            </a:r>
          </a:p>
          <a:p>
            <a:pPr lvl="1"/>
            <a:r>
              <a:rPr lang="en-US" dirty="0"/>
              <a:t>Find a file or directory: find</a:t>
            </a:r>
          </a:p>
          <a:p>
            <a:r>
              <a:rPr lang="en-US" dirty="0"/>
              <a:t>Resource management commands</a:t>
            </a:r>
          </a:p>
          <a:p>
            <a:pPr lvl="1"/>
            <a:r>
              <a:rPr lang="en-US" dirty="0"/>
              <a:t>Check available memory: free [-h]</a:t>
            </a:r>
          </a:p>
          <a:p>
            <a:pPr lvl="1"/>
            <a:r>
              <a:rPr lang="en-US" dirty="0"/>
              <a:t>Check available disk space: </a:t>
            </a:r>
            <a:r>
              <a:rPr lang="en-US" dirty="0" err="1"/>
              <a:t>df</a:t>
            </a:r>
            <a:r>
              <a:rPr lang="en-US" dirty="0"/>
              <a:t> [-h]</a:t>
            </a:r>
          </a:p>
          <a:p>
            <a:pPr lvl="1"/>
            <a:r>
              <a:rPr lang="en-US" dirty="0"/>
              <a:t>Whole-system view: top/</a:t>
            </a:r>
            <a:r>
              <a:rPr lang="en-US" dirty="0" err="1"/>
              <a:t>htop</a:t>
            </a:r>
            <a:endParaRPr lang="en-US" dirty="0"/>
          </a:p>
          <a:p>
            <a:pPr lvl="1"/>
            <a:r>
              <a:rPr lang="en-US" dirty="0"/>
              <a:t>Current location disk usage: du [-</a:t>
            </a:r>
            <a:r>
              <a:rPr lang="en-US" dirty="0" err="1"/>
              <a:t>hs</a:t>
            </a:r>
            <a:r>
              <a:rPr lang="en-US" dirty="0"/>
              <a:t>]/</a:t>
            </a:r>
            <a:r>
              <a:rPr lang="en-US" dirty="0" err="1"/>
              <a:t>ncdu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3948B-2E38-B971-B134-4415AAF9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51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F4399-D248-B8CA-BD01-D287236EA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35D9-2EAA-BB81-EFE7-599A4F0F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Terminal Navigation &amp;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2097-76C5-16F9-E773-9368505BF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789"/>
            <a:ext cx="10515600" cy="47471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Environment commands</a:t>
            </a:r>
          </a:p>
          <a:p>
            <a:pPr lvl="1"/>
            <a:r>
              <a:rPr lang="en-US" dirty="0"/>
              <a:t>Source an environment file in shell: source</a:t>
            </a:r>
          </a:p>
          <a:p>
            <a:pPr lvl="1"/>
            <a:r>
              <a:rPr lang="en-US" dirty="0"/>
              <a:t>Show current environment settings: </a:t>
            </a:r>
            <a:r>
              <a:rPr lang="en-US" dirty="0" err="1"/>
              <a:t>printenv</a:t>
            </a:r>
            <a:endParaRPr lang="en-US" dirty="0"/>
          </a:p>
          <a:p>
            <a:pPr lvl="1"/>
            <a:r>
              <a:rPr lang="en-US" dirty="0"/>
              <a:t>Important variable: $PATH (often, export PATH=$PATH:/new/program)</a:t>
            </a:r>
          </a:p>
          <a:p>
            <a:r>
              <a:rPr lang="en-US" dirty="0"/>
              <a:t>Program management commands</a:t>
            </a:r>
          </a:p>
          <a:p>
            <a:pPr lvl="1"/>
            <a:r>
              <a:rPr lang="en-US" dirty="0"/>
              <a:t>Find program on $PATH by name: which</a:t>
            </a:r>
          </a:p>
          <a:p>
            <a:pPr lvl="1"/>
            <a:r>
              <a:rPr lang="en-US" dirty="0"/>
              <a:t>Show or create a program shortcut: alias</a:t>
            </a:r>
          </a:p>
          <a:p>
            <a:pPr lvl="1"/>
            <a:r>
              <a:rPr lang="en-US" dirty="0"/>
              <a:t>update-alternatives [--config]</a:t>
            </a:r>
          </a:p>
          <a:p>
            <a:r>
              <a:rPr lang="en-US" dirty="0"/>
              <a:t>System commands</a:t>
            </a:r>
          </a:p>
          <a:p>
            <a:pPr lvl="1"/>
            <a:r>
              <a:rPr lang="en-US" dirty="0"/>
              <a:t>Install or manage software: apt[-get] (WSL/Ubuntu), brew (MacOS), </a:t>
            </a:r>
            <a:r>
              <a:rPr lang="en-US" dirty="0" err="1"/>
              <a:t>dnf</a:t>
            </a:r>
            <a:r>
              <a:rPr lang="en-US" dirty="0"/>
              <a:t> (Rocky)</a:t>
            </a:r>
          </a:p>
          <a:p>
            <a:pPr lvl="1"/>
            <a:r>
              <a:rPr lang="en-US" dirty="0"/>
              <a:t>Software manuals: 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3FAB5-5B98-1185-190D-85878AF4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5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D2679-ED34-E8CD-4DEC-6BF7D689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6F10-10AB-CDEF-2B33-3D5DC624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0198A-F762-6E64-A55A-0D5669A7D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Overview of Artificial Intelligence (AI) and Machine Learning (ML)</a:t>
            </a:r>
          </a:p>
          <a:p>
            <a:endParaRPr lang="en-US" dirty="0"/>
          </a:p>
          <a:p>
            <a:r>
              <a:rPr lang="en-US" dirty="0"/>
              <a:t>Terminal basics (a crash course)</a:t>
            </a:r>
          </a:p>
          <a:p>
            <a:endParaRPr lang="en-US" dirty="0"/>
          </a:p>
          <a:p>
            <a:r>
              <a:rPr lang="en-US" dirty="0"/>
              <a:t>Data: What are we learning from?</a:t>
            </a:r>
          </a:p>
          <a:p>
            <a:endParaRPr lang="en-US" dirty="0"/>
          </a:p>
          <a:p>
            <a:r>
              <a:rPr lang="en-US" dirty="0"/>
              <a:t>Python programming</a:t>
            </a:r>
          </a:p>
          <a:p>
            <a:endParaRPr lang="en-US" dirty="0"/>
          </a:p>
          <a:p>
            <a:r>
              <a:rPr lang="en-US" dirty="0"/>
              <a:t>Hands-on: Building a model to make classification predictions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B0063-5829-C299-AFBC-D034A69F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AAF7-96D1-4BA6-8E3D-94B999F2F7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1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831B6-6E0D-7F86-B10F-7DA0AFE6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CD73-008F-837E-B95C-8860A9C1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What to Reason Over?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728B-401E-C454-7F03-9639D390D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86623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 can be anything humans are interested in</a:t>
            </a:r>
          </a:p>
          <a:p>
            <a:endParaRPr lang="en-US" dirty="0"/>
          </a:p>
          <a:p>
            <a:r>
              <a:rPr lang="en-US" dirty="0"/>
              <a:t>Led to fragmentation of the field into subdomains</a:t>
            </a:r>
          </a:p>
          <a:p>
            <a:endParaRPr lang="en-US" dirty="0"/>
          </a:p>
          <a:p>
            <a:r>
              <a:rPr lang="en-US" dirty="0"/>
              <a:t>In Biomedical Research, what might we be interested in?</a:t>
            </a:r>
          </a:p>
          <a:p>
            <a:pPr lvl="1"/>
            <a:r>
              <a:rPr lang="en-US" dirty="0"/>
              <a:t>Health records</a:t>
            </a:r>
          </a:p>
          <a:p>
            <a:pPr lvl="1"/>
            <a:r>
              <a:rPr lang="en-US" dirty="0"/>
              <a:t>*-omics (genomics, </a:t>
            </a:r>
            <a:r>
              <a:rPr lang="en-US" dirty="0" err="1"/>
              <a:t>exomics</a:t>
            </a:r>
            <a:r>
              <a:rPr lang="en-US" dirty="0"/>
              <a:t>, metagenomics, </a:t>
            </a:r>
            <a:r>
              <a:rPr lang="en-US" dirty="0" err="1"/>
              <a:t>glycomics</a:t>
            </a:r>
            <a:r>
              <a:rPr lang="en-US" dirty="0"/>
              <a:t>, proteomics, etc.)</a:t>
            </a:r>
          </a:p>
          <a:p>
            <a:pPr lvl="1"/>
            <a:r>
              <a:rPr lang="en-US" dirty="0"/>
              <a:t>Histology, pathology reports</a:t>
            </a:r>
          </a:p>
          <a:p>
            <a:pPr lvl="1"/>
            <a:r>
              <a:rPr lang="en-US" dirty="0" err="1"/>
              <a:t>Wetlab</a:t>
            </a:r>
            <a:r>
              <a:rPr lang="en-US" dirty="0"/>
              <a:t> experiments &amp; collated results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Others…?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641E1-8246-35AB-450B-1D64E8A9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AAF7-96D1-4BA6-8E3D-94B999F2F7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60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97594-E6BE-AE07-F23D-5FC42649C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277B-496A-0A2E-E4D1-80716FF9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What to Reason Over?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0C457-2B42-A3B9-F309-A653B0AA9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8662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must be organized into </a:t>
            </a:r>
            <a:r>
              <a:rPr lang="en-US" i="1" dirty="0"/>
              <a:t>categories </a:t>
            </a:r>
            <a:r>
              <a:rPr lang="en-US" dirty="0"/>
              <a:t>and</a:t>
            </a:r>
            <a:r>
              <a:rPr lang="en-US" i="1" dirty="0"/>
              <a:t> types</a:t>
            </a:r>
          </a:p>
          <a:p>
            <a:pPr lvl="1"/>
            <a:r>
              <a:rPr lang="en-US" dirty="0"/>
              <a:t>Data categories then guide how machine learning may be applied</a:t>
            </a:r>
          </a:p>
          <a:p>
            <a:r>
              <a:rPr lang="en-US" dirty="0"/>
              <a:t>Data may be structured or unstructured</a:t>
            </a:r>
          </a:p>
          <a:p>
            <a:r>
              <a:rPr lang="en-US" dirty="0"/>
              <a:t>Data </a:t>
            </a:r>
            <a:r>
              <a:rPr lang="en-US" i="1" dirty="0"/>
              <a:t>categories</a:t>
            </a:r>
            <a:r>
              <a:rPr lang="en-US" dirty="0"/>
              <a:t> may include things like:</a:t>
            </a:r>
          </a:p>
          <a:p>
            <a:pPr lvl="1"/>
            <a:r>
              <a:rPr lang="en-US" dirty="0"/>
              <a:t>Age, Demographics, HbA1c concentration, …</a:t>
            </a:r>
          </a:p>
          <a:p>
            <a:pPr lvl="1"/>
            <a:r>
              <a:rPr lang="en-US" dirty="0"/>
              <a:t>Others…</a:t>
            </a:r>
          </a:p>
          <a:p>
            <a:r>
              <a:rPr lang="en-US" dirty="0"/>
              <a:t>Data </a:t>
            </a:r>
            <a:r>
              <a:rPr lang="en-US" i="1" dirty="0"/>
              <a:t>types</a:t>
            </a:r>
            <a:r>
              <a:rPr lang="en-US" dirty="0"/>
              <a:t> may include</a:t>
            </a:r>
          </a:p>
          <a:p>
            <a:pPr lvl="1"/>
            <a:r>
              <a:rPr lang="en-US" dirty="0"/>
              <a:t>Decimals, integers, ordinal categories (‘small’, ‘medium’, ‘large’), unordered factors (‘green’, ‘blue’, ‘red’)</a:t>
            </a:r>
          </a:p>
          <a:p>
            <a:pPr lvl="1"/>
            <a:r>
              <a:rPr lang="en-US" dirty="0"/>
              <a:t>Others…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A4566-9F4B-FDA9-25AB-137E6555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AAF7-96D1-4BA6-8E3D-94B999F2F7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33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71270-E713-21AF-15DE-C4776B88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ECE6-FCED-EDEB-BFE4-7DC07790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How to Manage?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BBF9C-2E1D-4510-30AE-1F307799D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86623" cy="48958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Attempt to model human reasoning</a:t>
            </a:r>
          </a:p>
          <a:p>
            <a:pPr lvl="1"/>
            <a:r>
              <a:rPr lang="en-US" dirty="0"/>
              <a:t>What constitutes “young” vs “old”?</a:t>
            </a:r>
          </a:p>
          <a:p>
            <a:pPr lvl="1"/>
            <a:r>
              <a:rPr lang="en-US" dirty="0"/>
              <a:t>What about “high” HbA1c vs “normal”?</a:t>
            </a:r>
          </a:p>
          <a:p>
            <a:r>
              <a:rPr lang="en-US" dirty="0"/>
              <a:t>Algorithm development across the board</a:t>
            </a:r>
          </a:p>
          <a:p>
            <a:pPr lvl="1"/>
            <a:r>
              <a:rPr lang="en-US" dirty="0"/>
              <a:t>Statistics</a:t>
            </a:r>
          </a:p>
          <a:p>
            <a:pPr lvl="1"/>
            <a:r>
              <a:rPr lang="en-US" dirty="0"/>
              <a:t>Linear algebra, calculus, etc.</a:t>
            </a:r>
          </a:p>
          <a:p>
            <a:pPr lvl="1"/>
            <a:r>
              <a:rPr lang="en-US" dirty="0"/>
              <a:t>Image processing</a:t>
            </a:r>
          </a:p>
          <a:p>
            <a:pPr lvl="2"/>
            <a:r>
              <a:rPr lang="en-US" dirty="0"/>
              <a:t>Edge detection</a:t>
            </a:r>
          </a:p>
          <a:p>
            <a:pPr lvl="2"/>
            <a:r>
              <a:rPr lang="en-US" dirty="0"/>
              <a:t>Feature detection</a:t>
            </a:r>
          </a:p>
          <a:p>
            <a:pPr lvl="1"/>
            <a:r>
              <a:rPr lang="en-US" dirty="0"/>
              <a:t>Language processing</a:t>
            </a:r>
          </a:p>
          <a:p>
            <a:pPr lvl="2"/>
            <a:r>
              <a:rPr lang="en-US" dirty="0"/>
              <a:t>Entity detection</a:t>
            </a:r>
          </a:p>
          <a:p>
            <a:pPr lvl="2"/>
            <a:r>
              <a:rPr lang="en-US" dirty="0"/>
              <a:t>Pattern recognition</a:t>
            </a:r>
          </a:p>
          <a:p>
            <a:pPr lvl="1"/>
            <a:r>
              <a:rPr lang="en-US" dirty="0"/>
              <a:t>Others …?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B26B5-3285-43D7-30CD-94D54F5F0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AAF7-96D1-4BA6-8E3D-94B999F2F7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49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D2679-ED34-E8CD-4DEC-6BF7D689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6F10-10AB-CDEF-2B33-3D5DC624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0198A-F762-6E64-A55A-0D5669A7D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Overview of Artificial Intelligence (AI) and Machine Learning (ML)</a:t>
            </a:r>
          </a:p>
          <a:p>
            <a:endParaRPr lang="en-US" dirty="0"/>
          </a:p>
          <a:p>
            <a:r>
              <a:rPr lang="en-US" dirty="0"/>
              <a:t>Terminal basics (a crash course)</a:t>
            </a:r>
          </a:p>
          <a:p>
            <a:endParaRPr lang="en-US" dirty="0"/>
          </a:p>
          <a:p>
            <a:r>
              <a:rPr lang="en-US" dirty="0"/>
              <a:t>Data: What are we learning from?</a:t>
            </a:r>
          </a:p>
          <a:p>
            <a:endParaRPr lang="en-US" dirty="0"/>
          </a:p>
          <a:p>
            <a:r>
              <a:rPr lang="en-US" dirty="0"/>
              <a:t>Python programming</a:t>
            </a:r>
          </a:p>
          <a:p>
            <a:endParaRPr lang="en-US" dirty="0"/>
          </a:p>
          <a:p>
            <a:r>
              <a:rPr lang="en-US" dirty="0"/>
              <a:t>Hands-on: Building a model to make classification predictions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B0063-5829-C299-AFBC-D034A69F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AAF7-96D1-4BA6-8E3D-94B999F2F7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95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DB243-7D85-0229-9AE0-ACF7F5840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6885-C34A-6472-7EB6-CFE182CB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820BB-5DBD-FA40-71A7-44AD45A9B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709"/>
            <a:ext cx="10515600" cy="4545203"/>
          </a:xfrm>
        </p:spPr>
        <p:txBody>
          <a:bodyPr>
            <a:normAutofit/>
          </a:bodyPr>
          <a:lstStyle/>
          <a:p>
            <a:r>
              <a:rPr lang="en-US" dirty="0"/>
              <a:t>Why choose Python</a:t>
            </a:r>
          </a:p>
          <a:p>
            <a:pPr lvl="1"/>
            <a:r>
              <a:rPr lang="en-US" dirty="0"/>
              <a:t>An interpreted language</a:t>
            </a:r>
          </a:p>
          <a:p>
            <a:pPr lvl="1"/>
            <a:r>
              <a:rPr lang="en-US" dirty="0"/>
              <a:t>Built to emphasize readability, ease of learning</a:t>
            </a:r>
          </a:p>
          <a:p>
            <a:pPr lvl="1"/>
            <a:r>
              <a:rPr lang="en-US" dirty="0"/>
              <a:t>Single-threaded: intuitive order-of-operations</a:t>
            </a:r>
          </a:p>
          <a:p>
            <a:pPr lvl="1"/>
            <a:r>
              <a:rPr lang="en-US" dirty="0"/>
              <a:t>Has matured into a state-of-the-art powerhouse</a:t>
            </a:r>
          </a:p>
          <a:p>
            <a:pPr lvl="1"/>
            <a:r>
              <a:rPr lang="en-US" dirty="0"/>
              <a:t>Mature ecosystem of developers</a:t>
            </a:r>
          </a:p>
          <a:p>
            <a:pPr lvl="1"/>
            <a:r>
              <a:rPr lang="en-US" dirty="0"/>
              <a:t>Free, open-source development ecosystem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226A0-1836-6337-32BC-296BC610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77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17F27-7FD1-F5D5-F419-FF576DF8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6591B-8877-20D4-114B-AFE5B53BB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Atomic “Types”</a:t>
            </a:r>
          </a:p>
          <a:p>
            <a:pPr lvl="1"/>
            <a:r>
              <a:rPr lang="en-US" dirty="0"/>
              <a:t>Immutable vs mutable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Numbers (float, int, complex)</a:t>
            </a:r>
          </a:p>
          <a:p>
            <a:pPr lvl="1"/>
            <a:r>
              <a:rPr lang="en-US" dirty="0"/>
              <a:t>Boolean (bool / True, False)</a:t>
            </a:r>
          </a:p>
          <a:p>
            <a:r>
              <a:rPr lang="en-US" dirty="0"/>
              <a:t>Built-in types</a:t>
            </a:r>
          </a:p>
          <a:p>
            <a:pPr lvl="1"/>
            <a:r>
              <a:rPr lang="en-US" dirty="0"/>
              <a:t>Lists (arrays in other languages)</a:t>
            </a:r>
          </a:p>
          <a:p>
            <a:pPr lvl="1"/>
            <a:r>
              <a:rPr lang="en-US" dirty="0"/>
              <a:t>Dictionaries (</a:t>
            </a:r>
            <a:r>
              <a:rPr lang="en-US" dirty="0" err="1"/>
              <a:t>hashmaps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Sets (unordered lists of unique values)</a:t>
            </a:r>
          </a:p>
          <a:p>
            <a:pPr lvl="1"/>
            <a:r>
              <a:rPr lang="en-US" dirty="0"/>
              <a:t>….many others</a:t>
            </a:r>
          </a:p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Declared and set simultaneously</a:t>
            </a:r>
          </a:p>
          <a:p>
            <a:pPr lvl="1"/>
            <a:r>
              <a:rPr lang="en-US" dirty="0"/>
              <a:t>Not protected – common developer trap!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6876C-9597-5232-AD61-869B21CE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87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175C-555B-74A6-2392-B2B7B960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E661-7582-0657-9DC6-6BC70F93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7E65F-2A16-AF47-E345-A2BBB3F82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Atomic “Types”</a:t>
            </a:r>
          </a:p>
          <a:p>
            <a:pPr lvl="1"/>
            <a:r>
              <a:rPr lang="en-US" dirty="0"/>
              <a:t>Immutable vs mutable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Numbers (float, int, complex)</a:t>
            </a:r>
          </a:p>
          <a:p>
            <a:pPr lvl="1"/>
            <a:r>
              <a:rPr lang="en-US" dirty="0"/>
              <a:t>Boolean (bool / True, False)</a:t>
            </a:r>
          </a:p>
          <a:p>
            <a:r>
              <a:rPr lang="en-US" dirty="0"/>
              <a:t>Built-in types</a:t>
            </a:r>
          </a:p>
          <a:p>
            <a:pPr lvl="1"/>
            <a:r>
              <a:rPr lang="en-US" dirty="0"/>
              <a:t>Lists (arrays in other languages)</a:t>
            </a:r>
          </a:p>
          <a:p>
            <a:pPr lvl="1"/>
            <a:r>
              <a:rPr lang="en-US" dirty="0"/>
              <a:t>Dictionaries (</a:t>
            </a:r>
            <a:r>
              <a:rPr lang="en-US" dirty="0" err="1"/>
              <a:t>hashmaps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Sets (unordered lists of unique values)</a:t>
            </a:r>
          </a:p>
          <a:p>
            <a:pPr lvl="1"/>
            <a:r>
              <a:rPr lang="en-US" dirty="0"/>
              <a:t>….many others</a:t>
            </a:r>
          </a:p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Declared and set simultaneously</a:t>
            </a:r>
          </a:p>
          <a:p>
            <a:pPr lvl="1"/>
            <a:r>
              <a:rPr lang="en-US" dirty="0"/>
              <a:t>Not protected – common developer trap!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ABB69-75DF-F775-9164-4D723391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5D0F4E-FCEA-E3EA-ED7A-04270B419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018" y="2348558"/>
            <a:ext cx="2762636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08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F6F3A-D606-EE60-A4AC-5519E9CE3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61AA-4F70-EF7C-7451-4FB766704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B8764-8E25-1D1F-F2F9-20C4F16C3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Atomic “Types”</a:t>
            </a:r>
          </a:p>
          <a:p>
            <a:pPr lvl="1"/>
            <a:r>
              <a:rPr lang="en-US" dirty="0"/>
              <a:t>Immutable vs mutable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Numbers (float, int, complex)</a:t>
            </a:r>
          </a:p>
          <a:p>
            <a:pPr lvl="1"/>
            <a:r>
              <a:rPr lang="en-US" dirty="0"/>
              <a:t>Boolean (bool / True, False)</a:t>
            </a:r>
          </a:p>
          <a:p>
            <a:r>
              <a:rPr lang="en-US" dirty="0"/>
              <a:t>Built-in types</a:t>
            </a:r>
          </a:p>
          <a:p>
            <a:pPr lvl="1"/>
            <a:r>
              <a:rPr lang="en-US" dirty="0"/>
              <a:t>Lists (arrays in other languages)</a:t>
            </a:r>
          </a:p>
          <a:p>
            <a:pPr lvl="1"/>
            <a:r>
              <a:rPr lang="en-US" dirty="0"/>
              <a:t>Dictionaries (</a:t>
            </a:r>
            <a:r>
              <a:rPr lang="en-US" dirty="0" err="1"/>
              <a:t>hashmaps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Sets (unordered lists of unique values)</a:t>
            </a:r>
          </a:p>
          <a:p>
            <a:pPr lvl="1"/>
            <a:r>
              <a:rPr lang="en-US" dirty="0"/>
              <a:t>….many others</a:t>
            </a:r>
          </a:p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Declared and set simultaneously</a:t>
            </a:r>
          </a:p>
          <a:p>
            <a:pPr lvl="1"/>
            <a:r>
              <a:rPr lang="en-US" dirty="0"/>
              <a:t>Not protected – common developer trap!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6CC2E-217E-EF58-2411-C0E39CA2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24BD94-1DBD-F76A-22F7-ECF87ACBA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036" y="2661541"/>
            <a:ext cx="3648584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33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B3023-3E5E-8A97-287C-8205558DA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9C9A-0C56-4BE9-BB0F-ECBD8D1A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2473D-4DD2-FA82-FF61-E328BD92C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Atomic “Types”</a:t>
            </a:r>
          </a:p>
          <a:p>
            <a:pPr lvl="1"/>
            <a:r>
              <a:rPr lang="en-US" dirty="0"/>
              <a:t>Immutable vs mutable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Numbers (float, int, complex)</a:t>
            </a:r>
          </a:p>
          <a:p>
            <a:pPr lvl="1"/>
            <a:r>
              <a:rPr lang="en-US" dirty="0"/>
              <a:t>Boolean (bool / True, False)</a:t>
            </a:r>
          </a:p>
          <a:p>
            <a:r>
              <a:rPr lang="en-US" dirty="0"/>
              <a:t>Built-in types</a:t>
            </a:r>
          </a:p>
          <a:p>
            <a:pPr lvl="1"/>
            <a:r>
              <a:rPr lang="en-US" dirty="0"/>
              <a:t>Lists (arrays in other languages)</a:t>
            </a:r>
          </a:p>
          <a:p>
            <a:pPr lvl="1"/>
            <a:r>
              <a:rPr lang="en-US" dirty="0"/>
              <a:t>Dictionaries (</a:t>
            </a:r>
            <a:r>
              <a:rPr lang="en-US" dirty="0" err="1"/>
              <a:t>hashmaps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Sets (unordered lists of unique values)</a:t>
            </a:r>
          </a:p>
          <a:p>
            <a:pPr lvl="1"/>
            <a:r>
              <a:rPr lang="en-US" dirty="0"/>
              <a:t>….many others</a:t>
            </a:r>
          </a:p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Declared and set simultaneously</a:t>
            </a:r>
          </a:p>
          <a:p>
            <a:pPr lvl="1"/>
            <a:r>
              <a:rPr lang="en-US" dirty="0"/>
              <a:t>Not protected – common developer trap!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F0748-5D7A-836A-3618-CAFD3A72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04779-CDD8-F86B-DC0E-F0A1A8099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30" y="2547722"/>
            <a:ext cx="3724795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81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7C230-F87C-BFFA-268F-B879849C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E2FD-E079-DBC1-68A2-FFE94D37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111B-56FB-FA17-9450-B70861C11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Atomic “Types”</a:t>
            </a:r>
          </a:p>
          <a:p>
            <a:pPr lvl="1"/>
            <a:r>
              <a:rPr lang="en-US" dirty="0"/>
              <a:t>Immutable vs mutable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Numbers (float, int, complex)</a:t>
            </a:r>
          </a:p>
          <a:p>
            <a:pPr lvl="1"/>
            <a:r>
              <a:rPr lang="en-US" dirty="0"/>
              <a:t>Boolean (bool / True, False)</a:t>
            </a:r>
          </a:p>
          <a:p>
            <a:r>
              <a:rPr lang="en-US" dirty="0"/>
              <a:t>Built-in types</a:t>
            </a:r>
          </a:p>
          <a:p>
            <a:pPr lvl="1"/>
            <a:r>
              <a:rPr lang="en-US" dirty="0"/>
              <a:t>Lists (arrays in other languages)</a:t>
            </a:r>
          </a:p>
          <a:p>
            <a:pPr lvl="1"/>
            <a:r>
              <a:rPr lang="en-US" dirty="0"/>
              <a:t>Dictionaries (</a:t>
            </a:r>
            <a:r>
              <a:rPr lang="en-US" dirty="0" err="1"/>
              <a:t>hashmaps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Sets (unordered lists of unique values)</a:t>
            </a:r>
          </a:p>
          <a:p>
            <a:pPr lvl="1"/>
            <a:r>
              <a:rPr lang="en-US" dirty="0"/>
              <a:t>….many others</a:t>
            </a:r>
          </a:p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Declared and set simultaneously</a:t>
            </a:r>
          </a:p>
          <a:p>
            <a:pPr lvl="1"/>
            <a:r>
              <a:rPr lang="en-US" dirty="0"/>
              <a:t>Not protected – common developer trap!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5E961-E4B4-DC4D-05EA-920CC628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1A4EA9-DF40-C5A5-5999-20483F46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166" y="2606458"/>
            <a:ext cx="5134692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00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5FB0-73A6-5BF6-018C-05B957AF8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6A7E9-6F8A-1C75-468D-74B80FFE2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95EF7-A0A6-3B3C-9DE1-6A93EE277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Atomic “Types”</a:t>
            </a:r>
          </a:p>
          <a:p>
            <a:pPr lvl="1"/>
            <a:r>
              <a:rPr lang="en-US" dirty="0"/>
              <a:t>Immutable vs mutable</a:t>
            </a:r>
          </a:p>
          <a:p>
            <a:pPr lvl="1"/>
            <a:r>
              <a:rPr lang="en-US" dirty="0"/>
              <a:t>Strings</a:t>
            </a:r>
          </a:p>
          <a:p>
            <a:pPr lvl="1"/>
            <a:r>
              <a:rPr lang="en-US" dirty="0"/>
              <a:t>Numbers (float, int, complex)</a:t>
            </a:r>
          </a:p>
          <a:p>
            <a:pPr lvl="1"/>
            <a:r>
              <a:rPr lang="en-US" dirty="0"/>
              <a:t>Boolean (bool / True, False)</a:t>
            </a:r>
          </a:p>
          <a:p>
            <a:r>
              <a:rPr lang="en-US" dirty="0"/>
              <a:t>Built-in types</a:t>
            </a:r>
          </a:p>
          <a:p>
            <a:pPr lvl="1"/>
            <a:r>
              <a:rPr lang="en-US" dirty="0"/>
              <a:t>Lists (arrays in other languages)</a:t>
            </a:r>
          </a:p>
          <a:p>
            <a:pPr lvl="1"/>
            <a:r>
              <a:rPr lang="en-US" dirty="0"/>
              <a:t>Dictionaries (</a:t>
            </a:r>
            <a:r>
              <a:rPr lang="en-US" dirty="0" err="1"/>
              <a:t>hashmaps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Sets (unordered lists of unique values)</a:t>
            </a:r>
          </a:p>
          <a:p>
            <a:pPr lvl="1"/>
            <a:r>
              <a:rPr lang="en-US" dirty="0"/>
              <a:t>….many others</a:t>
            </a:r>
          </a:p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Declared and set simultaneously</a:t>
            </a:r>
          </a:p>
          <a:p>
            <a:pPr lvl="1"/>
            <a:r>
              <a:rPr lang="en-US" dirty="0"/>
              <a:t>Not protected – common developer trap!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98B1E-644B-4A6B-6928-2576DF49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C00228-4985-5AEF-E321-CA626021D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596" y="2219064"/>
            <a:ext cx="5792008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58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D6A15-63A9-A0BB-0C8D-8CA6FFC40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C04CE-DE35-E11B-CFDC-F11844BA0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3E7BF-8B13-24C5-FE71-B645665C9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  <a:p>
            <a:pPr lvl="1"/>
            <a:r>
              <a:rPr lang="en-US" dirty="0"/>
              <a:t>Provides control of when portions of code are executed</a:t>
            </a:r>
          </a:p>
          <a:p>
            <a:pPr lvl="1"/>
            <a:r>
              <a:rPr lang="en-US" dirty="0"/>
              <a:t>Also provides “Exception handling” – program errors</a:t>
            </a:r>
          </a:p>
          <a:p>
            <a:pPr lvl="1"/>
            <a:r>
              <a:rPr lang="en-US" dirty="0"/>
              <a:t>Equality operators: &gt;, &lt;, ==, !=, &gt;=, &lt;=; “is” and “is not”</a:t>
            </a:r>
          </a:p>
          <a:p>
            <a:r>
              <a:rPr lang="en-US" dirty="0"/>
              <a:t>System functions &amp; keywords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assert</a:t>
            </a:r>
          </a:p>
          <a:p>
            <a:pPr lvl="1"/>
            <a:r>
              <a:rPr lang="en-US" dirty="0"/>
              <a:t>“type”-checking</a:t>
            </a:r>
          </a:p>
          <a:p>
            <a:pPr lvl="1"/>
            <a:r>
              <a:rPr lang="en-US" dirty="0"/>
              <a:t>The “with/open” construct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62CB5-434F-05EB-2813-5659736C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1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F2D38-C2B3-859C-B4E1-4E1FFA14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D9E33-FC4F-FAA4-FD13-9165632F3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767EC-68BA-AD2B-A24B-3DB54FC8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  <a:p>
            <a:pPr lvl="1"/>
            <a:r>
              <a:rPr lang="en-US" dirty="0"/>
              <a:t>Provides control of when portions of code are executed</a:t>
            </a:r>
          </a:p>
          <a:p>
            <a:pPr lvl="1"/>
            <a:r>
              <a:rPr lang="en-US" dirty="0"/>
              <a:t>Also provides “Exception handling” – program errors</a:t>
            </a:r>
          </a:p>
          <a:p>
            <a:pPr lvl="1"/>
            <a:r>
              <a:rPr lang="en-US" dirty="0"/>
              <a:t>Equality operators: &gt;, &lt;, ==, !=, &gt;=, &lt;=; “is” and “is not”</a:t>
            </a:r>
          </a:p>
          <a:p>
            <a:r>
              <a:rPr lang="en-US" dirty="0"/>
              <a:t>System functions &amp; keywords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assert</a:t>
            </a:r>
          </a:p>
          <a:p>
            <a:pPr lvl="1"/>
            <a:r>
              <a:rPr lang="en-US" dirty="0"/>
              <a:t>“type”-checking</a:t>
            </a:r>
          </a:p>
          <a:p>
            <a:pPr lvl="1"/>
            <a:r>
              <a:rPr lang="en-US" dirty="0"/>
              <a:t>The “with/open” construct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576E4-8CDF-3458-D77B-26654EC5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970D8C-4A79-F383-6FE6-1E98C7454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562" y="1949010"/>
            <a:ext cx="4210638" cy="26673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22562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A322C-5AFC-D0C6-C469-9147D2865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4D9-7C06-BF0B-ABC4-77F47F57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73552-4AE7-6FF8-5486-30C18899C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  <a:p>
            <a:pPr lvl="1"/>
            <a:r>
              <a:rPr lang="en-US" dirty="0"/>
              <a:t>Provides control of when portions of code are executed</a:t>
            </a:r>
          </a:p>
          <a:p>
            <a:pPr lvl="1"/>
            <a:r>
              <a:rPr lang="en-US" dirty="0"/>
              <a:t>Also provides “Exception handling” – program errors</a:t>
            </a:r>
          </a:p>
          <a:p>
            <a:pPr lvl="1"/>
            <a:r>
              <a:rPr lang="en-US" dirty="0"/>
              <a:t>Equality operators: &gt;, &lt;, ==, !=, &gt;=, &lt;=; “is” and “is not”</a:t>
            </a:r>
          </a:p>
          <a:p>
            <a:r>
              <a:rPr lang="en-US" dirty="0"/>
              <a:t>System functions &amp; keywords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assert</a:t>
            </a:r>
          </a:p>
          <a:p>
            <a:pPr lvl="1"/>
            <a:r>
              <a:rPr lang="en-US" dirty="0"/>
              <a:t>“type”-checking</a:t>
            </a:r>
          </a:p>
          <a:p>
            <a:pPr lvl="1"/>
            <a:r>
              <a:rPr lang="en-US" dirty="0"/>
              <a:t>The “with/open” construct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6921-0B66-B74F-6485-FAB73D03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CAA492-575E-D76D-FA61-A80D04D32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258" y="1825625"/>
            <a:ext cx="3172268" cy="29055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029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F192E-5E7F-5A37-7FB0-B6452B325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0863-C326-B474-5ABA-0710D620B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279B2-2BF3-2909-5AFB-7D3081BEF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  <a:p>
            <a:pPr lvl="1"/>
            <a:r>
              <a:rPr lang="en-US" dirty="0"/>
              <a:t>Provides control of when portions of code are executed</a:t>
            </a:r>
          </a:p>
          <a:p>
            <a:pPr lvl="1"/>
            <a:r>
              <a:rPr lang="en-US" dirty="0"/>
              <a:t>Also provides “Exception handling” – program errors</a:t>
            </a:r>
          </a:p>
          <a:p>
            <a:pPr lvl="1"/>
            <a:r>
              <a:rPr lang="en-US" dirty="0"/>
              <a:t>Equality operators: &gt;, &lt;, ==, !=, &gt;=, &lt;=; “is” and “is not”</a:t>
            </a:r>
          </a:p>
          <a:p>
            <a:r>
              <a:rPr lang="en-US" dirty="0"/>
              <a:t>System functions &amp; keywords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assert</a:t>
            </a:r>
          </a:p>
          <a:p>
            <a:pPr lvl="1"/>
            <a:r>
              <a:rPr lang="en-US" dirty="0"/>
              <a:t>“type”-checking</a:t>
            </a:r>
          </a:p>
          <a:p>
            <a:pPr lvl="1"/>
            <a:r>
              <a:rPr lang="en-US" dirty="0"/>
              <a:t>The “with/open” construct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152BB-6561-D637-FCE8-EC560C0A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243ED-8D3A-2025-6E9C-0095956AE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929" y="2321062"/>
            <a:ext cx="5172797" cy="25816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2906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254B-2460-FDD9-EADE-D8090C135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3587A-796D-C693-6ECC-7F6BA5EB7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5096-1EB0-E8EA-477D-A6622A8B9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  <a:p>
            <a:pPr lvl="1"/>
            <a:r>
              <a:rPr lang="en-US" dirty="0"/>
              <a:t>Provides control of when portions of code are executed</a:t>
            </a:r>
          </a:p>
          <a:p>
            <a:pPr lvl="1"/>
            <a:r>
              <a:rPr lang="en-US" dirty="0"/>
              <a:t>Also provides “Exception handling” – program errors</a:t>
            </a:r>
          </a:p>
          <a:p>
            <a:pPr lvl="1"/>
            <a:r>
              <a:rPr lang="en-US" dirty="0"/>
              <a:t>Equality operators: &gt;, &lt;, ==, !=, &gt;=, &lt;=; “is” and “is not”</a:t>
            </a:r>
          </a:p>
          <a:p>
            <a:r>
              <a:rPr lang="en-US" dirty="0"/>
              <a:t>System functions &amp; keywords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assert</a:t>
            </a:r>
          </a:p>
          <a:p>
            <a:pPr lvl="1"/>
            <a:r>
              <a:rPr lang="en-US" dirty="0"/>
              <a:t>“type”-checking</a:t>
            </a:r>
          </a:p>
          <a:p>
            <a:pPr lvl="1"/>
            <a:r>
              <a:rPr lang="en-US" dirty="0"/>
              <a:t>The “with/open” construct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813CE-CD4D-80BA-F0A8-BFD2B254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1F4880-0C44-42E1-9C9D-3560DB22A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419" y="2261881"/>
            <a:ext cx="5506218" cy="16575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6043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A612-6F80-FF69-1EDF-6F6B24CB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4015-4CB9-090C-CD56-40645AB0D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BB1A4-63BE-9485-2522-C81CC3079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  <a:p>
            <a:pPr lvl="1"/>
            <a:r>
              <a:rPr lang="en-US" dirty="0"/>
              <a:t>Provides control of when portions of code are executed</a:t>
            </a:r>
          </a:p>
          <a:p>
            <a:pPr lvl="1"/>
            <a:r>
              <a:rPr lang="en-US" dirty="0"/>
              <a:t>Also provides “Exception handling” – program errors</a:t>
            </a:r>
          </a:p>
          <a:p>
            <a:pPr lvl="1"/>
            <a:r>
              <a:rPr lang="en-US" dirty="0"/>
              <a:t>Equality operators: &gt;, &lt;, ==, !=, &gt;=, &lt;=; “is” and “is not”</a:t>
            </a:r>
          </a:p>
          <a:p>
            <a:r>
              <a:rPr lang="en-US" dirty="0"/>
              <a:t>System functions &amp; keywords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assert</a:t>
            </a:r>
          </a:p>
          <a:p>
            <a:pPr lvl="1"/>
            <a:r>
              <a:rPr lang="en-US" dirty="0"/>
              <a:t>“type”-checking</a:t>
            </a:r>
          </a:p>
          <a:p>
            <a:pPr lvl="1"/>
            <a:r>
              <a:rPr lang="en-US" dirty="0"/>
              <a:t>The “with/open” construct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70134-BB2A-BA07-949C-5CB2084B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14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FDD8-34D6-5193-7430-1D93C5F56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554F-059A-73B0-F88D-F54134BD4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38A33-046F-BF90-D22E-FD09502D3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  <a:p>
            <a:pPr lvl="1"/>
            <a:r>
              <a:rPr lang="en-US" dirty="0"/>
              <a:t>Provides control of when portions of code are executed</a:t>
            </a:r>
          </a:p>
          <a:p>
            <a:pPr lvl="1"/>
            <a:r>
              <a:rPr lang="en-US" dirty="0"/>
              <a:t>Also provides “Exception handling” – program errors</a:t>
            </a:r>
          </a:p>
          <a:p>
            <a:pPr lvl="1"/>
            <a:r>
              <a:rPr lang="en-US" dirty="0"/>
              <a:t>Equality operators: &gt;, &lt;, ==, !=, &gt;=, &lt;=; “is” and “is not”</a:t>
            </a:r>
          </a:p>
          <a:p>
            <a:r>
              <a:rPr lang="en-US" dirty="0"/>
              <a:t>System functions &amp; keywords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assert</a:t>
            </a:r>
          </a:p>
          <a:p>
            <a:pPr lvl="1"/>
            <a:r>
              <a:rPr lang="en-US" dirty="0"/>
              <a:t>“type”-checking</a:t>
            </a:r>
          </a:p>
          <a:p>
            <a:pPr lvl="1"/>
            <a:r>
              <a:rPr lang="en-US" dirty="0"/>
              <a:t>The “with/open” construct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33091-8D75-F9B7-CAD1-66D031EB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7F8CCB-4EFF-5C98-04D3-FFE83A293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109" y="4001294"/>
            <a:ext cx="4410691" cy="7049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1681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9D107-EE7F-9697-AB04-96CAE789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11F8-E194-F7E9-527B-2CDC509B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4861D-D8D4-FB26-795E-50233A561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  <a:p>
            <a:pPr lvl="1"/>
            <a:r>
              <a:rPr lang="en-US" dirty="0"/>
              <a:t>Provides control of when portions of code are executed</a:t>
            </a:r>
          </a:p>
          <a:p>
            <a:pPr lvl="1"/>
            <a:r>
              <a:rPr lang="en-US" dirty="0"/>
              <a:t>Also provides “Exception handling” – program errors</a:t>
            </a:r>
          </a:p>
          <a:p>
            <a:pPr lvl="1"/>
            <a:r>
              <a:rPr lang="en-US" dirty="0"/>
              <a:t>Equality operators: &gt;, &lt;, ==, !=, &gt;=, &lt;=; “is” and “is not”</a:t>
            </a:r>
          </a:p>
          <a:p>
            <a:r>
              <a:rPr lang="en-US" dirty="0"/>
              <a:t>System functions &amp; keywords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assert</a:t>
            </a:r>
          </a:p>
          <a:p>
            <a:pPr lvl="1"/>
            <a:r>
              <a:rPr lang="en-US" dirty="0"/>
              <a:t>“type”-checking</a:t>
            </a:r>
          </a:p>
          <a:p>
            <a:pPr lvl="1"/>
            <a:r>
              <a:rPr lang="en-US" dirty="0"/>
              <a:t>The “with/open” construct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4F2AC-1E91-A408-679B-4AEC69D6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66B695-83FD-85AB-5536-05B765666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194" y="4279538"/>
            <a:ext cx="5239481" cy="6382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094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83B1-6C13-F0D6-C135-0A83E5E3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F6442-8949-8F38-BA88-D9DD3AE48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D85C7-E5DA-F9B9-E7FB-EAD7F4A5C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  <a:p>
            <a:pPr lvl="1"/>
            <a:r>
              <a:rPr lang="en-US" dirty="0"/>
              <a:t>Provides control of when portions of code are executed</a:t>
            </a:r>
          </a:p>
          <a:p>
            <a:pPr lvl="1"/>
            <a:r>
              <a:rPr lang="en-US" dirty="0"/>
              <a:t>Also provides “Exception handling” – program errors</a:t>
            </a:r>
          </a:p>
          <a:p>
            <a:pPr lvl="1"/>
            <a:r>
              <a:rPr lang="en-US" dirty="0"/>
              <a:t>Equality operators: &gt;, &lt;, ==, !=, &gt;=, &lt;=; “is” and “is not”</a:t>
            </a:r>
          </a:p>
          <a:p>
            <a:r>
              <a:rPr lang="en-US" dirty="0"/>
              <a:t>System functions &amp; keywords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assert</a:t>
            </a:r>
          </a:p>
          <a:p>
            <a:pPr lvl="1"/>
            <a:r>
              <a:rPr lang="en-US" dirty="0"/>
              <a:t>“type”-checking</a:t>
            </a:r>
          </a:p>
          <a:p>
            <a:pPr lvl="1"/>
            <a:r>
              <a:rPr lang="en-US" dirty="0"/>
              <a:t>The “with/open” construct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CA6BA-96D5-5472-0898-522C83BF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D4DEEA-C706-B4A1-DBD9-61E0CAC26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212" y="3077369"/>
            <a:ext cx="6363588" cy="20386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0134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C362-E2F6-36B9-6D78-C978BCA3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C5B-4A60-037F-BA1B-C3EDFB37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CE1C-2F80-41C8-B5FD-9847719A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Re-usable code snippets</a:t>
            </a:r>
          </a:p>
          <a:p>
            <a:pPr lvl="1"/>
            <a:r>
              <a:rPr lang="en-US" dirty="0"/>
              <a:t>Arguments</a:t>
            </a:r>
          </a:p>
          <a:p>
            <a:pPr lvl="1"/>
            <a:r>
              <a:rPr lang="en-US" dirty="0"/>
              <a:t>Scope</a:t>
            </a:r>
          </a:p>
          <a:p>
            <a:pPr lvl="1"/>
            <a:r>
              <a:rPr lang="en-US" dirty="0"/>
              <a:t>Stateless*</a:t>
            </a:r>
          </a:p>
          <a:p>
            <a:r>
              <a:rPr lang="en-US" dirty="0"/>
              <a:t>Objects &amp; classes</a:t>
            </a:r>
          </a:p>
          <a:p>
            <a:pPr lvl="1"/>
            <a:r>
              <a:rPr lang="en-US" dirty="0"/>
              <a:t>Also re-usable</a:t>
            </a:r>
          </a:p>
          <a:p>
            <a:pPr lvl="1"/>
            <a:r>
              <a:rPr lang="en-US" dirty="0"/>
              <a:t>Object is an “instance” of class</a:t>
            </a:r>
          </a:p>
          <a:p>
            <a:pPr lvl="1"/>
            <a:r>
              <a:rPr lang="en-US" dirty="0"/>
              <a:t>Stateful*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1BDA2-DDFF-D92C-5B25-5DA5561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02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C362-E2F6-36B9-6D78-C978BCA3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C5B-4A60-037F-BA1B-C3EDFB37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CE1C-2F80-41C8-B5FD-9847719A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Re-usable code snippets</a:t>
            </a:r>
          </a:p>
          <a:p>
            <a:pPr lvl="1"/>
            <a:r>
              <a:rPr lang="en-US" dirty="0"/>
              <a:t>Arguments</a:t>
            </a:r>
          </a:p>
          <a:p>
            <a:pPr lvl="1"/>
            <a:r>
              <a:rPr lang="en-US" dirty="0"/>
              <a:t>Scope</a:t>
            </a:r>
          </a:p>
          <a:p>
            <a:pPr lvl="1"/>
            <a:r>
              <a:rPr lang="en-US" dirty="0"/>
              <a:t>Stateless*</a:t>
            </a:r>
          </a:p>
          <a:p>
            <a:r>
              <a:rPr lang="en-US" dirty="0"/>
              <a:t>Objects &amp; classes</a:t>
            </a:r>
          </a:p>
          <a:p>
            <a:pPr lvl="1"/>
            <a:r>
              <a:rPr lang="en-US" dirty="0"/>
              <a:t>Also re-usable</a:t>
            </a:r>
          </a:p>
          <a:p>
            <a:pPr lvl="1"/>
            <a:r>
              <a:rPr lang="en-US" dirty="0"/>
              <a:t>Object is an “instance” of class</a:t>
            </a:r>
          </a:p>
          <a:p>
            <a:pPr lvl="1"/>
            <a:r>
              <a:rPr lang="en-US" dirty="0"/>
              <a:t>Stateful*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1BDA2-DDFF-D92C-5B25-5DA5561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A95A62-0232-4EAA-95DC-0E57E3CB9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030" y="2519235"/>
            <a:ext cx="7240010" cy="18195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8407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C362-E2F6-36B9-6D78-C978BCA3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C5B-4A60-037F-BA1B-C3EDFB37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CE1C-2F80-41C8-B5FD-9847719A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Re-usable code snippets</a:t>
            </a:r>
          </a:p>
          <a:p>
            <a:pPr lvl="1"/>
            <a:r>
              <a:rPr lang="en-US" dirty="0"/>
              <a:t>Arguments</a:t>
            </a:r>
          </a:p>
          <a:p>
            <a:pPr lvl="1"/>
            <a:r>
              <a:rPr lang="en-US" dirty="0"/>
              <a:t>Scope</a:t>
            </a:r>
          </a:p>
          <a:p>
            <a:pPr lvl="1"/>
            <a:r>
              <a:rPr lang="en-US" dirty="0"/>
              <a:t>Stateless*</a:t>
            </a:r>
          </a:p>
          <a:p>
            <a:r>
              <a:rPr lang="en-US" dirty="0"/>
              <a:t>Objects &amp; classes</a:t>
            </a:r>
          </a:p>
          <a:p>
            <a:pPr lvl="1"/>
            <a:r>
              <a:rPr lang="en-US" dirty="0"/>
              <a:t>Also re-usable</a:t>
            </a:r>
          </a:p>
          <a:p>
            <a:pPr lvl="1"/>
            <a:r>
              <a:rPr lang="en-US" dirty="0"/>
              <a:t>Object is an “instance” of class</a:t>
            </a:r>
          </a:p>
          <a:p>
            <a:pPr lvl="1"/>
            <a:r>
              <a:rPr lang="en-US" dirty="0"/>
              <a:t>Stateful*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1BDA2-DDFF-D92C-5B25-5DA5561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4E58F8-0789-42AB-A059-B21F6013D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923" y="2174790"/>
            <a:ext cx="2915057" cy="5620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2067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C362-E2F6-36B9-6D78-C978BCA3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C5B-4A60-037F-BA1B-C3EDFB37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CE1C-2F80-41C8-B5FD-9847719A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Re-usable code snippets</a:t>
            </a:r>
          </a:p>
          <a:p>
            <a:pPr lvl="1"/>
            <a:r>
              <a:rPr lang="en-US" dirty="0"/>
              <a:t>Arguments</a:t>
            </a:r>
          </a:p>
          <a:p>
            <a:pPr lvl="1"/>
            <a:r>
              <a:rPr lang="en-US" dirty="0"/>
              <a:t>Scope</a:t>
            </a:r>
          </a:p>
          <a:p>
            <a:pPr lvl="1"/>
            <a:r>
              <a:rPr lang="en-US" dirty="0"/>
              <a:t>Stateless*</a:t>
            </a:r>
          </a:p>
          <a:p>
            <a:r>
              <a:rPr lang="en-US" dirty="0"/>
              <a:t>Objects &amp; classes</a:t>
            </a:r>
          </a:p>
          <a:p>
            <a:pPr lvl="1"/>
            <a:r>
              <a:rPr lang="en-US" dirty="0"/>
              <a:t>Also re-usable</a:t>
            </a:r>
          </a:p>
          <a:p>
            <a:pPr lvl="1"/>
            <a:r>
              <a:rPr lang="en-US" dirty="0"/>
              <a:t>Object is an “instance” of class</a:t>
            </a:r>
          </a:p>
          <a:p>
            <a:pPr lvl="1"/>
            <a:r>
              <a:rPr lang="en-US" dirty="0"/>
              <a:t>Stateful*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1BDA2-DDFF-D92C-5B25-5DA5561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F7736B-6828-4B8A-B053-55506C319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123" y="2140923"/>
            <a:ext cx="5668166" cy="23148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9401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C362-E2F6-36B9-6D78-C978BCA3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C5B-4A60-037F-BA1B-C3EDFB37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CE1C-2F80-41C8-B5FD-9847719A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Re-usable code snippets</a:t>
            </a:r>
          </a:p>
          <a:p>
            <a:pPr lvl="1"/>
            <a:r>
              <a:rPr lang="en-US" dirty="0"/>
              <a:t>Arguments</a:t>
            </a:r>
          </a:p>
          <a:p>
            <a:pPr lvl="1"/>
            <a:r>
              <a:rPr lang="en-US" dirty="0"/>
              <a:t>Scope</a:t>
            </a:r>
          </a:p>
          <a:p>
            <a:pPr lvl="1"/>
            <a:r>
              <a:rPr lang="en-US" dirty="0"/>
              <a:t>Stateless*</a:t>
            </a:r>
          </a:p>
          <a:p>
            <a:r>
              <a:rPr lang="en-US" dirty="0"/>
              <a:t>Objects &amp; classes</a:t>
            </a:r>
          </a:p>
          <a:p>
            <a:pPr lvl="1"/>
            <a:r>
              <a:rPr lang="en-US" dirty="0"/>
              <a:t>Also re-usable</a:t>
            </a:r>
          </a:p>
          <a:p>
            <a:pPr lvl="1"/>
            <a:r>
              <a:rPr lang="en-US" dirty="0"/>
              <a:t>Object is an “instance” of class</a:t>
            </a:r>
          </a:p>
          <a:p>
            <a:pPr lvl="1"/>
            <a:r>
              <a:rPr lang="en-US" dirty="0"/>
              <a:t>Stateful*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1BDA2-DDFF-D92C-5B25-5DA5561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998D2E-BF8B-4FF4-B714-62CC923D4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210" y="1825625"/>
            <a:ext cx="7125694" cy="16290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6685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C362-E2F6-36B9-6D78-C978BCA3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C5B-4A60-037F-BA1B-C3EDFB37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CE1C-2F80-41C8-B5FD-9847719A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Re-usable code snippets</a:t>
            </a:r>
          </a:p>
          <a:p>
            <a:pPr lvl="1"/>
            <a:r>
              <a:rPr lang="en-US" dirty="0"/>
              <a:t>Arguments</a:t>
            </a:r>
          </a:p>
          <a:p>
            <a:pPr lvl="1"/>
            <a:r>
              <a:rPr lang="en-US" dirty="0"/>
              <a:t>Scope</a:t>
            </a:r>
          </a:p>
          <a:p>
            <a:pPr lvl="1"/>
            <a:r>
              <a:rPr lang="en-US" dirty="0"/>
              <a:t>Stateless*</a:t>
            </a:r>
          </a:p>
          <a:p>
            <a:r>
              <a:rPr lang="en-US" dirty="0"/>
              <a:t>Objects &amp; classes</a:t>
            </a:r>
          </a:p>
          <a:p>
            <a:pPr lvl="1"/>
            <a:r>
              <a:rPr lang="en-US" dirty="0"/>
              <a:t>Also re-usable</a:t>
            </a:r>
          </a:p>
          <a:p>
            <a:pPr lvl="1"/>
            <a:r>
              <a:rPr lang="en-US" dirty="0"/>
              <a:t>Object is an “instance” of class</a:t>
            </a:r>
          </a:p>
          <a:p>
            <a:pPr lvl="1"/>
            <a:r>
              <a:rPr lang="en-US" dirty="0"/>
              <a:t>Stateful*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1BDA2-DDFF-D92C-5B25-5DA5561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01F9AE-B31B-4CE2-AF0D-8A7789A9A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483" y="1870075"/>
            <a:ext cx="5839640" cy="26006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0277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C362-E2F6-36B9-6D78-C978BCA3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C5B-4A60-037F-BA1B-C3EDFB37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CE1C-2F80-41C8-B5FD-9847719A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Re-usable code snippets</a:t>
            </a:r>
          </a:p>
          <a:p>
            <a:pPr lvl="1"/>
            <a:r>
              <a:rPr lang="en-US" dirty="0"/>
              <a:t>Arguments</a:t>
            </a:r>
          </a:p>
          <a:p>
            <a:pPr lvl="1"/>
            <a:r>
              <a:rPr lang="en-US" dirty="0"/>
              <a:t>Scope</a:t>
            </a:r>
          </a:p>
          <a:p>
            <a:pPr lvl="1"/>
            <a:r>
              <a:rPr lang="en-US" dirty="0"/>
              <a:t>Stateless*</a:t>
            </a:r>
          </a:p>
          <a:p>
            <a:r>
              <a:rPr lang="en-US" dirty="0"/>
              <a:t>Objects &amp; classes</a:t>
            </a:r>
          </a:p>
          <a:p>
            <a:pPr lvl="1"/>
            <a:r>
              <a:rPr lang="en-US" dirty="0"/>
              <a:t>Also re-usable</a:t>
            </a:r>
          </a:p>
          <a:p>
            <a:pPr lvl="1"/>
            <a:r>
              <a:rPr lang="en-US" dirty="0"/>
              <a:t>Object is an “instance” of class</a:t>
            </a:r>
          </a:p>
          <a:p>
            <a:pPr lvl="1"/>
            <a:r>
              <a:rPr lang="en-US" dirty="0"/>
              <a:t>Stateful*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1BDA2-DDFF-D92C-5B25-5DA5561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3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C362-E2F6-36B9-6D78-C978BCA3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C5B-4A60-037F-BA1B-C3EDFB37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CE1C-2F80-41C8-B5FD-9847719A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Re-usable code snippets</a:t>
            </a:r>
          </a:p>
          <a:p>
            <a:pPr lvl="1"/>
            <a:r>
              <a:rPr lang="en-US" dirty="0"/>
              <a:t>Arguments</a:t>
            </a:r>
          </a:p>
          <a:p>
            <a:pPr lvl="1"/>
            <a:r>
              <a:rPr lang="en-US" dirty="0"/>
              <a:t>Scope</a:t>
            </a:r>
          </a:p>
          <a:p>
            <a:pPr lvl="1"/>
            <a:r>
              <a:rPr lang="en-US" dirty="0"/>
              <a:t>Stateless*</a:t>
            </a:r>
          </a:p>
          <a:p>
            <a:r>
              <a:rPr lang="en-US" dirty="0"/>
              <a:t>Objects &amp; classes</a:t>
            </a:r>
          </a:p>
          <a:p>
            <a:pPr lvl="1"/>
            <a:r>
              <a:rPr lang="en-US" dirty="0"/>
              <a:t>Also re-usable</a:t>
            </a:r>
          </a:p>
          <a:p>
            <a:pPr lvl="1"/>
            <a:r>
              <a:rPr lang="en-US" dirty="0"/>
              <a:t>Object is an “instance” of class</a:t>
            </a:r>
          </a:p>
          <a:p>
            <a:pPr lvl="1"/>
            <a:r>
              <a:rPr lang="en-US" dirty="0"/>
              <a:t>Stateful*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1BDA2-DDFF-D92C-5B25-5DA5561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ADE470-88A1-42FB-92D0-F0BB93BCE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427" y="1385714"/>
            <a:ext cx="5525271" cy="44392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842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C362-E2F6-36B9-6D78-C978BCA3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C5B-4A60-037F-BA1B-C3EDFB37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4CE1C-2F80-41C8-B5FD-9847719A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Re-usable code snippets</a:t>
            </a:r>
          </a:p>
          <a:p>
            <a:pPr lvl="1"/>
            <a:r>
              <a:rPr lang="en-US" dirty="0"/>
              <a:t>Arguments</a:t>
            </a:r>
          </a:p>
          <a:p>
            <a:pPr lvl="1"/>
            <a:r>
              <a:rPr lang="en-US" dirty="0"/>
              <a:t>Scope</a:t>
            </a:r>
          </a:p>
          <a:p>
            <a:pPr lvl="1"/>
            <a:r>
              <a:rPr lang="en-US" dirty="0"/>
              <a:t>Stateless*</a:t>
            </a:r>
          </a:p>
          <a:p>
            <a:r>
              <a:rPr lang="en-US" dirty="0"/>
              <a:t>Objects &amp; classes</a:t>
            </a:r>
          </a:p>
          <a:p>
            <a:pPr lvl="1"/>
            <a:r>
              <a:rPr lang="en-US" dirty="0"/>
              <a:t>Also re-usable</a:t>
            </a:r>
          </a:p>
          <a:p>
            <a:pPr lvl="1"/>
            <a:r>
              <a:rPr lang="en-US" dirty="0"/>
              <a:t>Object is an “instance” of class</a:t>
            </a:r>
          </a:p>
          <a:p>
            <a:pPr lvl="1"/>
            <a:r>
              <a:rPr lang="en-US" dirty="0"/>
              <a:t>Stateful*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1BDA2-DDFF-D92C-5B25-5DA5561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4711A7-4B20-49D8-8A3F-5169B52DE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419" y="2036340"/>
            <a:ext cx="5772956" cy="15051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0000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D2679-ED34-E8CD-4DEC-6BF7D689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6F10-10AB-CDEF-2B33-3D5DC624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0198A-F762-6E64-A55A-0D5669A7D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 of Artificial Intelligence (AI) and Machine Learning (ML)</a:t>
            </a:r>
          </a:p>
          <a:p>
            <a:endParaRPr lang="en-US" dirty="0"/>
          </a:p>
          <a:p>
            <a:r>
              <a:rPr lang="en-US" dirty="0"/>
              <a:t>Data: What are we learning from?</a:t>
            </a:r>
          </a:p>
          <a:p>
            <a:endParaRPr lang="en-US" dirty="0"/>
          </a:p>
          <a:p>
            <a:r>
              <a:rPr lang="en-US" dirty="0"/>
              <a:t>Python programming: </a:t>
            </a:r>
            <a:r>
              <a:rPr lang="en-US" i="1" u="sng" dirty="0"/>
              <a:t>Packages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Hands-on: Building a model to make classification predictions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B0063-5829-C299-AFBC-D034A69F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AAF7-96D1-4BA6-8E3D-94B999F2F71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562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B7D2-9FDD-4869-0653-208926BC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0251-4364-ED5A-02DE-B5A3EEEB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 and External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5F48F-3765-501D-E650-6AB170AC9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Python famously has “batteries included”</a:t>
            </a:r>
          </a:p>
          <a:p>
            <a:r>
              <a:rPr lang="en-US" dirty="0"/>
              <a:t>But! </a:t>
            </a:r>
          </a:p>
          <a:p>
            <a:pPr lvl="1"/>
            <a:r>
              <a:rPr lang="en-US" dirty="0"/>
              <a:t>Too many packages for distribution in </a:t>
            </a:r>
            <a:r>
              <a:rPr lang="en-US" dirty="0" err="1"/>
              <a:t>stdlib</a:t>
            </a:r>
            <a:r>
              <a:rPr lang="en-US" dirty="0"/>
              <a:t> (Standard Library)</a:t>
            </a:r>
          </a:p>
          <a:p>
            <a:pPr lvl="1"/>
            <a:r>
              <a:rPr lang="en-US" dirty="0"/>
              <a:t>Principal package repository (pypi.org): &gt;715,000 packages available</a:t>
            </a:r>
          </a:p>
          <a:p>
            <a:pPr lvl="1"/>
            <a:r>
              <a:rPr lang="en-US" dirty="0"/>
              <a:t>Packages fill very different use cases</a:t>
            </a:r>
          </a:p>
          <a:p>
            <a:pPr lvl="2"/>
            <a:r>
              <a:rPr lang="en-US" dirty="0"/>
              <a:t>Biomedical data analysis and management (pandas, </a:t>
            </a:r>
            <a:r>
              <a:rPr lang="en-US" dirty="0" err="1"/>
              <a:t>scipy</a:t>
            </a:r>
            <a:r>
              <a:rPr lang="en-US" dirty="0"/>
              <a:t>, </a:t>
            </a:r>
            <a:r>
              <a:rPr lang="en-US" dirty="0" err="1"/>
              <a:t>numpy</a:t>
            </a:r>
            <a:r>
              <a:rPr lang="en-US" dirty="0"/>
              <a:t>, matplotlib, etc.)</a:t>
            </a:r>
          </a:p>
          <a:p>
            <a:pPr lvl="2"/>
            <a:r>
              <a:rPr lang="en-US" dirty="0"/>
              <a:t>Webservers (Django, flask, </a:t>
            </a:r>
            <a:r>
              <a:rPr lang="en-US" dirty="0" err="1"/>
              <a:t>gunicorn</a:t>
            </a:r>
            <a:r>
              <a:rPr lang="en-US" dirty="0"/>
              <a:t>, etc.)</a:t>
            </a:r>
          </a:p>
          <a:p>
            <a:pPr lvl="2"/>
            <a:r>
              <a:rPr lang="en-US" dirty="0"/>
              <a:t>AI &amp; ML (scikit-learn, TensorFlow, </a:t>
            </a:r>
            <a:r>
              <a:rPr lang="en-US" dirty="0" err="1"/>
              <a:t>PyTorch</a:t>
            </a:r>
            <a:r>
              <a:rPr lang="en-US" dirty="0"/>
              <a:t>, etc.)</a:t>
            </a:r>
          </a:p>
          <a:p>
            <a:pPr lvl="2"/>
            <a:r>
              <a:rPr lang="en-US" dirty="0"/>
              <a:t>Database management (sqlite3, MariaDB, PostgreSQL, etc.)</a:t>
            </a:r>
          </a:p>
          <a:p>
            <a:r>
              <a:rPr lang="en-US" dirty="0"/>
              <a:t>Python package manger is called “pip”</a:t>
            </a:r>
          </a:p>
          <a:p>
            <a:pPr lvl="1"/>
            <a:r>
              <a:rPr lang="en-US" dirty="0"/>
              <a:t>Similar to terminal “apt” (Ubuntu/WSL) and “brew” (Mac)</a:t>
            </a:r>
          </a:p>
          <a:p>
            <a:pPr lvl="1"/>
            <a:r>
              <a:rPr lang="en-US" dirty="0"/>
              <a:t>Only installs Python packages</a:t>
            </a:r>
          </a:p>
          <a:p>
            <a:pPr lvl="1"/>
            <a:r>
              <a:rPr lang="en-US" dirty="0"/>
              <a:t>…A word on virtual environments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F5B73-5192-36B7-65BC-AFC9AAED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882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B7D2-9FDD-4869-0653-208926BC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0251-4364-ED5A-02DE-B5A3EEEB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 and External Packages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F5B73-5192-36B7-65BC-AFC9AAED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0CF6E0-7210-458F-BA46-D45D339F6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513" y="2744840"/>
            <a:ext cx="7020905" cy="18385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69084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B7D2-9FDD-4869-0653-208926BC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0251-4364-ED5A-02DE-B5A3EEEB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 and External Packages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F5B73-5192-36B7-65BC-AFC9AAED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40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3B2A04-2C50-4B7D-AB20-BC680D0E5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469" y="2362051"/>
            <a:ext cx="5811061" cy="21338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78082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B7D2-9FDD-4869-0653-208926BC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0251-4364-ED5A-02DE-B5A3EEEB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 and External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5F48F-3765-501D-E650-6AB170AC9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package manger is called “pip”</a:t>
            </a:r>
          </a:p>
          <a:p>
            <a:pPr lvl="1"/>
            <a:r>
              <a:rPr lang="en-US" dirty="0"/>
              <a:t>Similar to terminal “apt” (Ubuntu/WSL), “brew” (Mac), “</a:t>
            </a:r>
            <a:r>
              <a:rPr lang="en-US" dirty="0" err="1"/>
              <a:t>dnf</a:t>
            </a:r>
            <a:r>
              <a:rPr lang="en-US" dirty="0"/>
              <a:t>” (Rocky/RHEL)</a:t>
            </a:r>
          </a:p>
          <a:p>
            <a:pPr lvl="1"/>
            <a:r>
              <a:rPr lang="en-US" dirty="0"/>
              <a:t>Only installs Python packages</a:t>
            </a:r>
          </a:p>
          <a:p>
            <a:pPr lvl="1"/>
            <a:r>
              <a:rPr lang="en-US" dirty="0"/>
              <a:t>…A word on virtual environments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F5B73-5192-36B7-65BC-AFC9AAED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390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B7D2-9FDD-4869-0653-208926BC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0251-4364-ED5A-02DE-B5A3EEEB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`scikit-learn`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5F48F-3765-501D-E650-6AB170AC9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107"/>
            <a:ext cx="10515600" cy="95343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Excellent package for working with all AI/ML models outside of NN</a:t>
            </a:r>
          </a:p>
          <a:p>
            <a:r>
              <a:rPr lang="en-US" dirty="0"/>
              <a:t>Performant, and (relatively) easy to understand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F5B73-5192-36B7-65BC-AFC9AAED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9024-BE12-43F8-BC9F-4D06FCF863E5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5B5A0-55DA-4527-9B2C-97E11087B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411255"/>
            <a:ext cx="6751947" cy="40917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31AFBE-8722-4974-9BCD-D1332076508B}"/>
              </a:ext>
            </a:extLst>
          </p:cNvPr>
          <p:cNvSpPr txBox="1"/>
          <p:nvPr/>
        </p:nvSpPr>
        <p:spPr>
          <a:xfrm>
            <a:off x="6987988" y="6488668"/>
            <a:ext cx="3245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https://scikit-learn.org/stable/</a:t>
            </a:r>
          </a:p>
        </p:txBody>
      </p:sp>
    </p:spTree>
    <p:extLst>
      <p:ext uri="{BB962C8B-B14F-4D97-AF65-F5344CB8AC3E}">
        <p14:creationId xmlns:p14="http://schemas.microsoft.com/office/powerpoint/2010/main" val="21167059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D2679-ED34-E8CD-4DEC-6BF7D689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6F10-10AB-CDEF-2B33-3D5DC624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0198A-F762-6E64-A55A-0D5669A7D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 of Artificial Intelligence (AI) and Machine Learning (ML)</a:t>
            </a:r>
          </a:p>
          <a:p>
            <a:endParaRPr lang="en-US" dirty="0"/>
          </a:p>
          <a:p>
            <a:r>
              <a:rPr lang="en-US" dirty="0"/>
              <a:t>Data: What are we learning from?</a:t>
            </a:r>
          </a:p>
          <a:p>
            <a:endParaRPr lang="en-US" dirty="0"/>
          </a:p>
          <a:p>
            <a:r>
              <a:rPr lang="en-US" dirty="0"/>
              <a:t>Python programming</a:t>
            </a:r>
          </a:p>
          <a:p>
            <a:endParaRPr lang="en-US" dirty="0"/>
          </a:p>
          <a:p>
            <a:r>
              <a:rPr lang="en-US" dirty="0"/>
              <a:t>Hands-on: Building a model to make classification predictions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B0063-5829-C299-AFBC-D034A69F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4AAF7-96D1-4BA6-8E3D-94B999F2F71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53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AB763C-23DE-4252-90C6-39E8A17C2418}"/>
              </a:ext>
            </a:extLst>
          </p:cNvPr>
          <p:cNvSpPr txBox="1"/>
          <p:nvPr/>
        </p:nvSpPr>
        <p:spPr>
          <a:xfrm>
            <a:off x="1120588" y="475129"/>
            <a:ext cx="5836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Decision Tree Classifier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311F5C-F4C6-4F32-AC06-D7F7C1BE03E3}"/>
              </a:ext>
            </a:extLst>
          </p:cNvPr>
          <p:cNvSpPr txBox="1"/>
          <p:nvPr/>
        </p:nvSpPr>
        <p:spPr>
          <a:xfrm>
            <a:off x="1264024" y="1398494"/>
            <a:ext cx="42761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Easily reviewed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Derived models (</a:t>
            </a:r>
            <a:r>
              <a:rPr lang="en-US" sz="2400" dirty="0" err="1"/>
              <a:t>XGBoost</a:t>
            </a:r>
            <a:r>
              <a:rPr lang="en-US" sz="2400" dirty="0"/>
              <a:t>, Random Forest, etc.) can be powerful</a:t>
            </a:r>
          </a:p>
          <a:p>
            <a:pPr marL="742950" lvl="1" indent="-285750">
              <a:buFontTx/>
              <a:buChar char="-"/>
            </a:pPr>
            <a:r>
              <a:rPr lang="en-US" sz="2400" dirty="0"/>
              <a:t>May lose some interpretability, though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See </a:t>
            </a:r>
            <a:r>
              <a:rPr lang="en-US" sz="2400" dirty="0" err="1">
                <a:hlinkClick r:id="rId2"/>
              </a:rPr>
              <a:t>sklearn</a:t>
            </a:r>
            <a:r>
              <a:rPr lang="en-US" sz="2400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8EF5B-716B-4403-8E0B-6AF870218760}"/>
              </a:ext>
            </a:extLst>
          </p:cNvPr>
          <p:cNvSpPr txBox="1"/>
          <p:nvPr/>
        </p:nvSpPr>
        <p:spPr>
          <a:xfrm>
            <a:off x="7324165" y="4661647"/>
            <a:ext cx="450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Wikipedia: Decision Tree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2967F04-283C-4D59-9E5A-E1A248AC3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977" y="1123758"/>
            <a:ext cx="3307976" cy="342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4049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AB763C-23DE-4252-90C6-39E8A17C2418}"/>
              </a:ext>
            </a:extLst>
          </p:cNvPr>
          <p:cNvSpPr txBox="1"/>
          <p:nvPr/>
        </p:nvSpPr>
        <p:spPr>
          <a:xfrm>
            <a:off x="1120588" y="475129"/>
            <a:ext cx="702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Support Vector Machines (SVMs)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4799C3-4E59-4744-8487-91247A06C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19786"/>
            <a:ext cx="4141694" cy="403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311F5C-F4C6-4F32-AC06-D7F7C1BE03E3}"/>
              </a:ext>
            </a:extLst>
          </p:cNvPr>
          <p:cNvSpPr txBox="1"/>
          <p:nvPr/>
        </p:nvSpPr>
        <p:spPr>
          <a:xfrm>
            <a:off x="1264024" y="1398494"/>
            <a:ext cx="42761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Work by finding maximum separation distance between classes of data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Can be powerful when using “non-linear hyperplanes”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See </a:t>
            </a:r>
            <a:r>
              <a:rPr lang="en-US" sz="2400" dirty="0" err="1">
                <a:hlinkClick r:id="rId3"/>
              </a:rPr>
              <a:t>sklearn</a:t>
            </a:r>
            <a:r>
              <a:rPr lang="en-US" sz="2400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8EF5B-716B-4403-8E0B-6AF870218760}"/>
              </a:ext>
            </a:extLst>
          </p:cNvPr>
          <p:cNvSpPr txBox="1"/>
          <p:nvPr/>
        </p:nvSpPr>
        <p:spPr>
          <a:xfrm>
            <a:off x="7593106" y="5692590"/>
            <a:ext cx="450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Wikipedia: SVMs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0147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EB1AF7-68D1-41DE-9DA7-F4C39FA75C5A}"/>
              </a:ext>
            </a:extLst>
          </p:cNvPr>
          <p:cNvSpPr txBox="1"/>
          <p:nvPr/>
        </p:nvSpPr>
        <p:spPr>
          <a:xfrm>
            <a:off x="636494" y="699247"/>
            <a:ext cx="11349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Attributions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SVMs: By </a:t>
            </a:r>
            <a:r>
              <a:rPr lang="en-US" sz="1200" dirty="0" err="1"/>
              <a:t>Larhmam</a:t>
            </a:r>
            <a:r>
              <a:rPr lang="en-US" sz="1200" dirty="0"/>
              <a:t> - Own work, CC BY-SA 4.0, </a:t>
            </a:r>
            <a:r>
              <a:rPr lang="en-US" sz="1200" dirty="0">
                <a:hlinkClick r:id="rId2"/>
              </a:rPr>
              <a:t>https://commons.wikimedia.org/w/index.php?curid=73710028</a:t>
            </a:r>
            <a:endParaRPr lang="en-US" sz="1200" dirty="0"/>
          </a:p>
          <a:p>
            <a:pPr marL="285750" indent="-285750">
              <a:buFontTx/>
              <a:buChar char="-"/>
            </a:pPr>
            <a:r>
              <a:rPr lang="en-US" sz="1200" dirty="0"/>
              <a:t>Decision Tree: By </a:t>
            </a:r>
            <a:r>
              <a:rPr lang="en-US" sz="1200" dirty="0" err="1"/>
              <a:t>Gilgoldm</a:t>
            </a:r>
            <a:r>
              <a:rPr lang="en-US" sz="1200" dirty="0"/>
              <a:t> - Own work, CC BY-SA 4.0, </a:t>
            </a:r>
            <a:r>
              <a:rPr lang="en-US" sz="1200" dirty="0">
                <a:hlinkClick r:id="rId3"/>
              </a:rPr>
              <a:t>https://commons.wikimedia.org/w/index.php?curid=90405437</a:t>
            </a:r>
            <a:endParaRPr lang="en-US" sz="1200" dirty="0"/>
          </a:p>
          <a:p>
            <a:pPr marL="285750" indent="-285750">
              <a:buFontTx/>
              <a:buChar char="-"/>
            </a:pPr>
            <a:endParaRPr lang="en-US" sz="1200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89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2276</Words>
  <Application>Microsoft Office PowerPoint</Application>
  <PresentationFormat>Widescreen</PresentationFormat>
  <Paragraphs>487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AI in Biomedical Research Bootcamp – Morning Session</vt:lpstr>
      <vt:lpstr>Today’s Outline</vt:lpstr>
      <vt:lpstr>Artificial Intelligence and Machine Learning</vt:lpstr>
      <vt:lpstr>Artificial Intelligence and Machine Learning</vt:lpstr>
      <vt:lpstr>Terminal Navigation &amp; Use</vt:lpstr>
      <vt:lpstr>Terminal Navigation &amp; Use</vt:lpstr>
      <vt:lpstr>Today’s Outline</vt:lpstr>
      <vt:lpstr>Data: What to Reason Over?</vt:lpstr>
      <vt:lpstr>Data: What to Reason Over?</vt:lpstr>
      <vt:lpstr>Data: How to Manage?</vt:lpstr>
      <vt:lpstr>Today’s Outline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Python Programming</vt:lpstr>
      <vt:lpstr>Today’s Outline</vt:lpstr>
      <vt:lpstr>Python Programming and External Packages</vt:lpstr>
      <vt:lpstr>Python Programming and External Packages</vt:lpstr>
      <vt:lpstr>Python Programming and External Packages</vt:lpstr>
      <vt:lpstr>Python Programming and External Packages</vt:lpstr>
      <vt:lpstr>`scikit-learn`</vt:lpstr>
      <vt:lpstr>Today’s Outline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McNeely, Patrick M.</dc:creator>
  <cp:lastModifiedBy>McNeely, Patrick M.</cp:lastModifiedBy>
  <cp:revision>8</cp:revision>
  <dcterms:created xsi:type="dcterms:W3CDTF">2026-08-17T19:09:11Z</dcterms:created>
  <dcterms:modified xsi:type="dcterms:W3CDTF">2026-08-21T01:30:35Z</dcterms:modified>
</cp:coreProperties>
</file>